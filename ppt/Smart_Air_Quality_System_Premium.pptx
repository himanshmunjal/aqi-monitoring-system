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67"/>
  </p:normalViewPr>
  <p:slideViewPr>
    <p:cSldViewPr snapToGrid="0" snapToObjects="1">
      <p:cViewPr varScale="1">
        <p:scale>
          <a:sx n="122" d="100"/>
          <a:sy n="122" d="100"/>
        </p:scale>
        <p:origin x="224" y="2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839D6D-B6A7-194B-BEBE-245856EBFC7C}" type="datetimeFigureOut">
              <a:rPr lang="en-US" smtClean="0"/>
              <a:t>4/8/26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7BA540-8825-2A48-A80D-43DFE5AE4E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916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BA540-8825-2A48-A80D-43DFE5AE4E7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718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E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0" y="914400"/>
            <a:ext cx="4572000" cy="4572000"/>
          </a:xfrm>
          <a:prstGeom prst="ellipse">
            <a:avLst/>
          </a:prstGeom>
          <a:solidFill>
            <a:srgbClr val="5E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0" y="1371600"/>
            <a:ext cx="4572000" cy="4572000"/>
          </a:xfrm>
          <a:prstGeom prst="ellipse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9144000" cy="3657600"/>
          </a:xfrm>
          <a:prstGeom prst="roundRect">
            <a:avLst/>
          </a:prstGeom>
          <a:solidFill>
            <a:srgbClr val="1E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457200" rtlCol="0" anchor="ctr"/>
          <a:lstStyle/>
          <a:p>
            <a:pPr algn="ctr">
              <a:defRPr sz="4800" b="1">
                <a:solidFill>
                  <a:srgbClr val="F5F5F5"/>
                </a:solidFill>
                <a:latin typeface="Inter"/>
              </a:defRPr>
            </a:pPr>
            <a:r>
              <a:t>Smart Air Quality</a:t>
            </a:r>
            <a:br/>
            <a:r>
              <a:t>Monitoring &amp; Alert System</a:t>
            </a:r>
          </a:p>
          <a:p>
            <a:pPr>
              <a:spcBef>
                <a:spcPts val="2000"/>
              </a:spcBef>
            </a:pPr>
            <a:endParaRPr/>
          </a:p>
          <a:p>
            <a:pPr>
              <a:defRPr sz="1600">
                <a:solidFill>
                  <a:srgbClr val="A0A0A5"/>
                </a:solidFill>
                <a:latin typeface="Inter"/>
              </a:defRPr>
            </a:pPr>
            <a:r>
              <a:t>Course: BCSE301L Software Engineering</a:t>
            </a:r>
          </a:p>
          <a:p>
            <a:pPr>
              <a:defRPr sz="1600">
                <a:solidFill>
                  <a:srgbClr val="A0A0A5"/>
                </a:solidFill>
                <a:latin typeface="Inter"/>
              </a:defRPr>
            </a:pPr>
            <a:r>
              <a:t>Faculty: S. Margret Anouncia | VIT University</a:t>
            </a:r>
          </a:p>
          <a:p>
            <a:pPr>
              <a:defRPr sz="1600">
                <a:solidFill>
                  <a:srgbClr val="A0A0A5"/>
                </a:solidFill>
                <a:latin typeface="Inter"/>
              </a:defRPr>
            </a:pPr>
            <a:endParaRPr/>
          </a:p>
          <a:p>
            <a:pPr>
              <a:defRPr sz="1600">
                <a:solidFill>
                  <a:srgbClr val="A0A0A5"/>
                </a:solidFill>
                <a:latin typeface="Inter"/>
              </a:defRPr>
            </a:pPr>
            <a:r>
              <a:t>Team 14: Yash Raj • Laksham Singh • Himansh Mangal • Abhay Mittal • Fabrice Freejo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E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Inter"/>
              </a:defRPr>
            </a:pPr>
            <a:r>
              <a:t>PROJECT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188720"/>
            <a:ext cx="1097280" cy="54864"/>
          </a:xfrm>
          <a:prstGeom prst="roundRect">
            <a:avLst/>
          </a:prstGeom>
          <a:solidFill>
            <a:srgbClr val="5E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457200" rIns="457200"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8C9EFF"/>
                </a:solidFill>
                <a:latin typeface="Inter"/>
              </a:defRPr>
            </a:pPr>
            <a:r>
              <a:t>Introduction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t>A next-generation software solution designed for real-time environmental monitoring.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8C9EFF"/>
                </a:solidFill>
                <a:latin typeface="Inter"/>
              </a:defRPr>
            </a:pPr>
            <a:r>
              <a:t>Societal Problem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t>Rising health risks (respiratory/cardiovascular) due to lack of real-time, actionable pollution data in urban zones.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8C9EFF"/>
                </a:solidFill>
                <a:latin typeface="Inter"/>
              </a:defRPr>
            </a:pPr>
            <a:r>
              <a:t>Target Users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t>Citizens, Environmental Agencies, Municipal Authorities, and Healthcare Organizations.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E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Inter"/>
              </a:defRPr>
            </a:pPr>
            <a:r>
              <a:t>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188720"/>
            <a:ext cx="1097280" cy="54864"/>
          </a:xfrm>
          <a:prstGeom prst="roundRect">
            <a:avLst/>
          </a:prstGeom>
          <a:solidFill>
            <a:srgbClr val="5E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457200" rIns="457200"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8C9EFF"/>
                </a:solidFill>
                <a:latin typeface="Inter"/>
              </a:defRPr>
            </a:pPr>
            <a:r>
              <a:t>Performance-based Goals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t>To collect air quality data from multiple locations with high accuracy.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t>To monitor pollution levels continuously with minimal latency.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t>To display real-time AQI data with fast response time.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t>To generate alerts instantly when pollution exceeds safe limits.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t>To store historical data efficiently for reporting.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E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Inter"/>
              </a:defRPr>
            </a:pPr>
            <a:r>
              <a:t>PROJECT PLANNING (PROCESS WBS)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188720"/>
            <a:ext cx="1097280" cy="54864"/>
          </a:xfrm>
          <a:prstGeom prst="roundRect">
            <a:avLst/>
          </a:prstGeom>
          <a:solidFill>
            <a:srgbClr val="5E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1E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8C9EFF"/>
                </a:solidFill>
                <a:latin typeface="Inter"/>
              </a:defRPr>
            </a:pPr>
            <a:r>
              <a:t>Phases Framework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t>Planning &amp; Design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t>Installation &amp; Setup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t>Data Collection &amp; Analysis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t>Alert &amp; Response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645920"/>
            <a:ext cx="5486400" cy="4389120"/>
          </a:xfrm>
          <a:prstGeom prst="roundRect">
            <a:avLst/>
          </a:prstGeom>
          <a:solidFill>
            <a:srgbClr val="18191C"/>
          </a:solidFill>
          <a:ln w="19050">
            <a:solidFill>
              <a:srgbClr val="5E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8C9EFF"/>
                </a:solidFill>
              </a:defRPr>
            </a:pPr>
            <a:r>
              <a:t>PROCESS-BASED WBS DIAGRAM</a:t>
            </a:r>
          </a:p>
          <a:p>
            <a:pPr algn="ctr">
              <a:defRPr sz="1400" b="0">
                <a:solidFill>
                  <a:srgbClr val="A0A0A5"/>
                </a:solidFill>
              </a:defRPr>
            </a:pPr>
            <a:endParaRPr/>
          </a:p>
          <a:p>
            <a:pPr algn="ctr">
              <a:defRPr sz="1400" b="0">
                <a:solidFill>
                  <a:srgbClr val="A0A0A5"/>
                </a:solidFill>
              </a:defRPr>
            </a:pPr>
            <a:r>
              <a:t>Drop Image Here</a:t>
            </a:r>
          </a:p>
          <a:p>
            <a:pPr algn="ctr">
              <a:defRPr sz="1400" b="0">
                <a:solidFill>
                  <a:srgbClr val="A0A0A5"/>
                </a:solidFill>
              </a:defRPr>
            </a:pPr>
            <a:r>
              <a:t>(From Tool implementation Of Task-1.pdf, Page 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E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Inter"/>
              </a:defRPr>
            </a:pPr>
            <a:r>
              <a:t>PROJECT PLANNING (PRODUCT WBS)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188720"/>
            <a:ext cx="1097280" cy="54864"/>
          </a:xfrm>
          <a:prstGeom prst="roundRect">
            <a:avLst/>
          </a:prstGeom>
          <a:solidFill>
            <a:srgbClr val="5E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1E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8C9EFF"/>
                </a:solidFill>
                <a:latin typeface="Inter"/>
              </a:defRPr>
            </a:pPr>
            <a:r>
              <a:t>Core Deliverables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t>Comprehensive Documentation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t>Sensor Networks &amp; Nodes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t>Data Processing Module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t>Alert &amp; Notification Module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645920"/>
            <a:ext cx="5486400" cy="4389120"/>
          </a:xfrm>
          <a:prstGeom prst="roundRect">
            <a:avLst/>
          </a:prstGeom>
          <a:solidFill>
            <a:srgbClr val="18191C"/>
          </a:solidFill>
          <a:ln w="19050">
            <a:solidFill>
              <a:srgbClr val="5E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8C9EFF"/>
                </a:solidFill>
              </a:defRPr>
            </a:pPr>
            <a:r>
              <a:t>PRODUCT-BASED WBS DIAGRAM</a:t>
            </a:r>
          </a:p>
          <a:p>
            <a:pPr algn="ctr">
              <a:defRPr sz="1400" b="0">
                <a:solidFill>
                  <a:srgbClr val="A0A0A5"/>
                </a:solidFill>
              </a:defRPr>
            </a:pPr>
            <a:endParaRPr/>
          </a:p>
          <a:p>
            <a:pPr algn="ctr">
              <a:defRPr sz="1400" b="0">
                <a:solidFill>
                  <a:srgbClr val="A0A0A5"/>
                </a:solidFill>
              </a:defRPr>
            </a:pPr>
            <a:r>
              <a:t>Drop Image Here</a:t>
            </a:r>
          </a:p>
          <a:p>
            <a:pPr algn="ctr">
              <a:defRPr sz="1400" b="0">
                <a:solidFill>
                  <a:srgbClr val="A0A0A5"/>
                </a:solidFill>
              </a:defRPr>
            </a:pPr>
            <a:r>
              <a:t>(From Tool implementation Of Task-1.pdf, Page 3)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E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Inter"/>
              </a:defRPr>
            </a:pPr>
            <a:r>
              <a:t>GANTT CHART: PROCESS-BASED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188720"/>
            <a:ext cx="1097280" cy="54864"/>
          </a:xfrm>
          <a:prstGeom prst="roundRect">
            <a:avLst/>
          </a:prstGeom>
          <a:solidFill>
            <a:srgbClr val="5E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1E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8C9EFF"/>
                </a:solidFill>
                <a:latin typeface="Inter"/>
              </a:defRPr>
            </a:pPr>
            <a:r>
              <a:t>Strategic Timeline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t>February 2026 – April 2026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t>Encompasses project initiation through database design and dashboard development.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645920"/>
            <a:ext cx="5486400" cy="4389120"/>
          </a:xfrm>
          <a:prstGeom prst="roundRect">
            <a:avLst/>
          </a:prstGeom>
          <a:solidFill>
            <a:srgbClr val="18191C"/>
          </a:solidFill>
          <a:ln w="19050">
            <a:solidFill>
              <a:srgbClr val="5E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8C9EFF"/>
                </a:solidFill>
              </a:defRPr>
            </a:pPr>
            <a:r>
              <a:t>PROCESS-BASED GANTT CHART</a:t>
            </a:r>
          </a:p>
          <a:p>
            <a:pPr algn="ctr">
              <a:defRPr sz="1400" b="0">
                <a:solidFill>
                  <a:srgbClr val="A0A0A5"/>
                </a:solidFill>
              </a:defRPr>
            </a:pPr>
            <a:endParaRPr/>
          </a:p>
          <a:p>
            <a:pPr algn="ctr">
              <a:defRPr sz="1400" b="0">
                <a:solidFill>
                  <a:srgbClr val="A0A0A5"/>
                </a:solidFill>
              </a:defRPr>
            </a:pPr>
            <a:r>
              <a:t>Drop Image Here</a:t>
            </a:r>
          </a:p>
          <a:p>
            <a:pPr algn="ctr">
              <a:defRPr sz="1400" b="0">
                <a:solidFill>
                  <a:srgbClr val="A0A0A5"/>
                </a:solidFill>
              </a:defRPr>
            </a:pPr>
            <a:r>
              <a:t>(From Tool implementation Of Task-1.pdf, Page 6)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E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Inter"/>
              </a:defRPr>
            </a:pPr>
            <a:r>
              <a:t>GANTT CHART: PRODUCT-BASED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188720"/>
            <a:ext cx="1097280" cy="54864"/>
          </a:xfrm>
          <a:prstGeom prst="roundRect">
            <a:avLst/>
          </a:prstGeom>
          <a:solidFill>
            <a:srgbClr val="5E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1E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8C9EFF"/>
                </a:solidFill>
                <a:latin typeface="Inter"/>
              </a:defRPr>
            </a:pPr>
            <a:r>
              <a:t>Delivery Timeline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t>February 2026 – April 2026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t>Covers system specs, UI design, sensor inputs, and final testing evaluations.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645920"/>
            <a:ext cx="5486400" cy="4389120"/>
          </a:xfrm>
          <a:prstGeom prst="roundRect">
            <a:avLst/>
          </a:prstGeom>
          <a:solidFill>
            <a:srgbClr val="18191C"/>
          </a:solidFill>
          <a:ln w="19050">
            <a:solidFill>
              <a:srgbClr val="5E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8C9EFF"/>
                </a:solidFill>
              </a:defRPr>
            </a:pPr>
            <a:r>
              <a:t>PRODUCT-BASED GANTT CHART</a:t>
            </a:r>
          </a:p>
          <a:p>
            <a:pPr algn="ctr">
              <a:defRPr sz="1400" b="0">
                <a:solidFill>
                  <a:srgbClr val="A0A0A5"/>
                </a:solidFill>
              </a:defRPr>
            </a:pPr>
            <a:endParaRPr/>
          </a:p>
          <a:p>
            <a:pPr algn="ctr">
              <a:defRPr sz="1400" b="0">
                <a:solidFill>
                  <a:srgbClr val="A0A0A5"/>
                </a:solidFill>
              </a:defRPr>
            </a:pPr>
            <a:r>
              <a:t>Drop Image Here</a:t>
            </a:r>
          </a:p>
          <a:p>
            <a:pPr algn="ctr">
              <a:defRPr sz="1400" b="0">
                <a:solidFill>
                  <a:srgbClr val="A0A0A5"/>
                </a:solidFill>
              </a:defRPr>
            </a:pPr>
            <a:r>
              <a:t>(From Tool implementation Of Task-1.pdf, Page 8)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E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Inter"/>
              </a:defRPr>
            </a:pPr>
            <a:r>
              <a:t>REQUIREMENT ELICITATION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188720"/>
            <a:ext cx="1097280" cy="54864"/>
          </a:xfrm>
          <a:prstGeom prst="roundRect">
            <a:avLst/>
          </a:prstGeom>
          <a:solidFill>
            <a:srgbClr val="5E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457200" rIns="457200"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8C9EFF"/>
                </a:solidFill>
                <a:latin typeface="Inter"/>
              </a:defRPr>
            </a:pPr>
            <a:r>
              <a:t>Methodology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t>Active Observation across residential, educational, and traffic-heavy industrial environments.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8C9EFF"/>
                </a:solidFill>
                <a:latin typeface="Inter"/>
              </a:defRPr>
            </a:pPr>
            <a:r>
              <a:t>Key Findings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t>Citizens face heightened health risks largely stemming from a lack of immediate alert systems.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t>The data is either complex or completely unavailable to the general public.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E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Inter"/>
              </a:defRPr>
            </a:pPr>
            <a:r>
              <a:t>VIEWPOINT-ORIENTED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188720"/>
            <a:ext cx="1097280" cy="54864"/>
          </a:xfrm>
          <a:prstGeom prst="roundRect">
            <a:avLst/>
          </a:prstGeom>
          <a:solidFill>
            <a:srgbClr val="5E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457200" rIns="457200"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8C9EFF"/>
                </a:solidFill>
                <a:latin typeface="Inter"/>
              </a:defRPr>
            </a:pPr>
            <a:r>
              <a:t>Citizen Viewpoint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t>Needs simplified real-time AQI data and instant safety alerts directly to mobile devices.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8C9EFF"/>
                </a:solidFill>
                <a:latin typeface="Inter"/>
              </a:defRPr>
            </a:pPr>
            <a:r>
              <a:t>Authority Viewpoint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t>Requires environmental trend tracking, city-wide analysis, and actionable policy reporting.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8C9EFF"/>
                </a:solidFill>
                <a:latin typeface="Inter"/>
              </a:defRPr>
            </a:pPr>
            <a:r>
              <a:t>System Administrator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t>Needs a reliable dashboard for sensor maintenance, fault tracking, and node management.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E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Inter"/>
              </a:defRPr>
            </a:pPr>
            <a:r>
              <a:t>SYSTEM DESIGN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188720"/>
            <a:ext cx="1097280" cy="54864"/>
          </a:xfrm>
          <a:prstGeom prst="roundRect">
            <a:avLst/>
          </a:prstGeom>
          <a:solidFill>
            <a:srgbClr val="5E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457200" rIns="457200"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8C9EFF"/>
                </a:solidFill>
                <a:latin typeface="Inter"/>
              </a:defRPr>
            </a:pPr>
            <a:r>
              <a:t>Strategic Approach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t>Focused on high modularity, uncompromised real-time data collection, and efficient processing of raw parameters into Actionable AQI.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8C9EFF"/>
                </a:solidFill>
                <a:latin typeface="Inter"/>
              </a:defRPr>
            </a:pPr>
            <a:r>
              <a:t>Toolset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t>Engineered and modeled using industry-standard tools: Modelio 5.4 &amp; Draw.io.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E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Inter"/>
              </a:defRPr>
            </a:pPr>
            <a:r>
              <a:t>DETAILED OBJECT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188720"/>
            <a:ext cx="1097280" cy="54864"/>
          </a:xfrm>
          <a:prstGeom prst="roundRect">
            <a:avLst/>
          </a:prstGeom>
          <a:solidFill>
            <a:srgbClr val="5E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1E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8C9EFF"/>
                </a:solidFill>
                <a:latin typeface="Inter"/>
              </a:defRPr>
            </a:pPr>
            <a:r>
              <a:t>Core Entity Classes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t>Sensor Module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t>Data Processing Unit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t>Alert &amp; Notification System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t>Central Database Ecosystem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t>Client Application (User)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645920"/>
            <a:ext cx="5486400" cy="4389120"/>
          </a:xfrm>
          <a:prstGeom prst="roundRect">
            <a:avLst/>
          </a:prstGeom>
          <a:solidFill>
            <a:srgbClr val="18191C"/>
          </a:solidFill>
          <a:ln w="19050">
            <a:solidFill>
              <a:srgbClr val="5E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8C9EFF"/>
                </a:solidFill>
              </a:defRPr>
            </a:pPr>
            <a:r>
              <a:t>CLASS DIAGRAM</a:t>
            </a:r>
          </a:p>
          <a:p>
            <a:pPr algn="ctr">
              <a:defRPr sz="1400" b="0">
                <a:solidFill>
                  <a:srgbClr val="A0A0A5"/>
                </a:solidFill>
              </a:defRPr>
            </a:pPr>
            <a:endParaRPr/>
          </a:p>
          <a:p>
            <a:pPr algn="ctr">
              <a:defRPr sz="1400" b="0">
                <a:solidFill>
                  <a:srgbClr val="A0A0A5"/>
                </a:solidFill>
              </a:defRPr>
            </a:pPr>
            <a:r>
              <a:t>Drop Image Here</a:t>
            </a:r>
          </a:p>
          <a:p>
            <a:pPr algn="ctr">
              <a:defRPr sz="1400" b="0">
                <a:solidFill>
                  <a:srgbClr val="A0A0A5"/>
                </a:solidFill>
              </a:defRPr>
            </a:pPr>
            <a:r>
              <a:t>(From Task-3 Tool Work.pdf, Page 1)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E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Inter"/>
              </a:defRPr>
            </a:pPr>
            <a:r>
              <a:t>SYSTEM INTERACTION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188720"/>
            <a:ext cx="1097280" cy="54864"/>
          </a:xfrm>
          <a:prstGeom prst="roundRect">
            <a:avLst/>
          </a:prstGeom>
          <a:solidFill>
            <a:srgbClr val="5E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1E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8C9EFF"/>
                </a:solidFill>
                <a:latin typeface="Inter"/>
              </a:defRPr>
            </a:pPr>
            <a:r>
              <a:rPr dirty="0"/>
              <a:t>Use Case Actors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rPr dirty="0"/>
              <a:t>Citizen (User)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rPr dirty="0"/>
              <a:t>Environmental Authority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rPr dirty="0"/>
              <a:t>System Administrator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8C9EFF"/>
                </a:solidFill>
                <a:latin typeface="Inter"/>
              </a:defRPr>
            </a:pPr>
            <a:r>
              <a:rPr dirty="0"/>
              <a:t>Core Functionalities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rPr dirty="0"/>
              <a:t>Monitor Real-Time AQI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rPr dirty="0"/>
              <a:t>Receive Instant Notifications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rPr dirty="0"/>
              <a:t>Evaluate System Performance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645920"/>
            <a:ext cx="5486400" cy="4389120"/>
          </a:xfrm>
          <a:prstGeom prst="roundRect">
            <a:avLst/>
          </a:prstGeom>
          <a:solidFill>
            <a:srgbClr val="18191C"/>
          </a:solidFill>
          <a:ln w="19050">
            <a:solidFill>
              <a:srgbClr val="5E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8C9EFF"/>
                </a:solidFill>
              </a:defRPr>
            </a:pPr>
            <a:r>
              <a:t>USE CASE DIAGRAM</a:t>
            </a:r>
          </a:p>
          <a:p>
            <a:pPr algn="ctr">
              <a:defRPr sz="1400" b="0">
                <a:solidFill>
                  <a:srgbClr val="A0A0A5"/>
                </a:solidFill>
              </a:defRPr>
            </a:pPr>
            <a:endParaRPr/>
          </a:p>
          <a:p>
            <a:pPr algn="ctr">
              <a:defRPr sz="1400" b="0">
                <a:solidFill>
                  <a:srgbClr val="A0A0A5"/>
                </a:solidFill>
              </a:defRPr>
            </a:pPr>
            <a:r>
              <a:t>Drop Image Here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E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Inter"/>
              </a:defRPr>
            </a:pPr>
            <a:r>
              <a:t>ARCHITECTURAL BLUEPRINT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188720"/>
            <a:ext cx="1097280" cy="54864"/>
          </a:xfrm>
          <a:prstGeom prst="roundRect">
            <a:avLst/>
          </a:prstGeom>
          <a:solidFill>
            <a:srgbClr val="5E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1E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8C9EFF"/>
                </a:solidFill>
                <a:latin typeface="Inter"/>
              </a:defRPr>
            </a:pPr>
            <a:r>
              <a:t>Pattern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t>Layered Architecture ensuring strict isolation of concerns.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8C9EFF"/>
                </a:solidFill>
                <a:latin typeface="Inter"/>
              </a:defRPr>
            </a:pPr>
            <a:r>
              <a:t>Active Layers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t>Presentation Layer (UI)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t>Business Logic Layer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t>Persistence Layer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t>Core Database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645920"/>
            <a:ext cx="5486400" cy="4389120"/>
          </a:xfrm>
          <a:prstGeom prst="roundRect">
            <a:avLst/>
          </a:prstGeom>
          <a:solidFill>
            <a:srgbClr val="18191C"/>
          </a:solidFill>
          <a:ln w="19050">
            <a:solidFill>
              <a:srgbClr val="5E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8C9EFF"/>
                </a:solidFill>
              </a:defRPr>
            </a:pPr>
            <a:r>
              <a:t>LAYERED ARCHITECTURE DIAGRAM</a:t>
            </a:r>
          </a:p>
          <a:p>
            <a:pPr algn="ctr">
              <a:defRPr sz="1400" b="0">
                <a:solidFill>
                  <a:srgbClr val="A0A0A5"/>
                </a:solidFill>
              </a:defRPr>
            </a:pPr>
            <a:endParaRPr/>
          </a:p>
          <a:p>
            <a:pPr algn="ctr">
              <a:defRPr sz="1400" b="0">
                <a:solidFill>
                  <a:srgbClr val="A0A0A5"/>
                </a:solidFill>
              </a:defRPr>
            </a:pPr>
            <a:r>
              <a:t>Drop Image Here</a:t>
            </a:r>
          </a:p>
          <a:p>
            <a:pPr algn="ctr">
              <a:defRPr sz="1400" b="0">
                <a:solidFill>
                  <a:srgbClr val="A0A0A5"/>
                </a:solidFill>
              </a:defRPr>
            </a:pPr>
            <a:r>
              <a:t>(From Task-3 Tool Work.pdf, Page 3)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E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Inter"/>
              </a:defRPr>
            </a:pPr>
            <a:r>
              <a:t>COHESION &amp; COUPLING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188720"/>
            <a:ext cx="1097280" cy="54864"/>
          </a:xfrm>
          <a:prstGeom prst="roundRect">
            <a:avLst/>
          </a:prstGeom>
          <a:solidFill>
            <a:srgbClr val="5E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1E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8C9EFF"/>
                </a:solidFill>
                <a:latin typeface="Inter"/>
              </a:defRPr>
            </a:pPr>
            <a:r>
              <a:t>Metrics Evaluated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t>High Functional Cohesion: Guarantees each component executes a highly focused specific task.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t>Low Data Coupling: Modules communicate via optimized, minimalist data payloads.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8C9EFF"/>
                </a:solidFill>
                <a:latin typeface="Inter"/>
              </a:defRPr>
            </a:pPr>
            <a:r>
              <a:t>Outcome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t>A robust, fault-tolerant system ready for integration.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645920"/>
            <a:ext cx="5486400" cy="4389120"/>
          </a:xfrm>
          <a:prstGeom prst="roundRect">
            <a:avLst/>
          </a:prstGeom>
          <a:solidFill>
            <a:srgbClr val="18191C"/>
          </a:solidFill>
          <a:ln w="19050">
            <a:solidFill>
              <a:srgbClr val="5E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8C9EFF"/>
                </a:solidFill>
              </a:defRPr>
            </a:pPr>
            <a:r>
              <a:t>COHESION &amp; COUPLING DIAGRAM</a:t>
            </a:r>
          </a:p>
          <a:p>
            <a:pPr algn="ctr">
              <a:defRPr sz="1400" b="0">
                <a:solidFill>
                  <a:srgbClr val="A0A0A5"/>
                </a:solidFill>
              </a:defRPr>
            </a:pPr>
            <a:endParaRPr/>
          </a:p>
          <a:p>
            <a:pPr algn="ctr">
              <a:defRPr sz="1400" b="0">
                <a:solidFill>
                  <a:srgbClr val="A0A0A5"/>
                </a:solidFill>
              </a:defRPr>
            </a:pPr>
            <a:r>
              <a:t>Drop Image Here</a:t>
            </a:r>
          </a:p>
          <a:p>
            <a:pPr algn="ctr">
              <a:defRPr sz="1400" b="0">
                <a:solidFill>
                  <a:srgbClr val="A0A0A5"/>
                </a:solidFill>
              </a:defRPr>
            </a:pPr>
            <a:r>
              <a:t>(From Task-3 Tool Work.pdf, Page 4)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E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Inter"/>
              </a:defRPr>
            </a:pPr>
            <a:r>
              <a:t>TESTING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188720"/>
            <a:ext cx="1097280" cy="54864"/>
          </a:xfrm>
          <a:prstGeom prst="roundRect">
            <a:avLst/>
          </a:prstGeom>
          <a:solidFill>
            <a:srgbClr val="5E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457200" rIns="457200"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8C9EFF"/>
                </a:solidFill>
                <a:latin typeface="Inter"/>
              </a:defRPr>
            </a:pPr>
            <a:r>
              <a:t>Methodologies Deployed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t>Boundary Value Analysis (Evaluating edge thresholds)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t>Equivalence Partitioning (Testing standardized input ranges)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8C9EFF"/>
                </a:solidFill>
                <a:latin typeface="Inter"/>
              </a:defRPr>
            </a:pPr>
            <a:r>
              <a:t>Executive Summary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t>Successfully validated TC-01 to TC-06.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t>Achieved an uncompromising 100% Pass Rate across varying scenarios.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E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Inter"/>
              </a:defRPr>
            </a:pPr>
            <a:r>
              <a:t>CONCLUSION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188720"/>
            <a:ext cx="1097280" cy="54864"/>
          </a:xfrm>
          <a:prstGeom prst="roundRect">
            <a:avLst/>
          </a:prstGeom>
          <a:solidFill>
            <a:srgbClr val="5E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457200" rIns="457200"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8C9EFF"/>
                </a:solidFill>
                <a:latin typeface="Inter"/>
              </a:defRPr>
            </a:pPr>
            <a:r>
              <a:t>Retrospective Summary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t>Successfully architected a reliable, modular framework delivering actionable AQI monitoring and instantaneous safety alerts.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8C9EFF"/>
                </a:solidFill>
                <a:latin typeface="Inter"/>
              </a:defRPr>
            </a:pPr>
            <a:r>
              <a:t>Future Roadmap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t>Implementation of AI-based predictive forecasting.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t>Deep integration into larger Smart City frameworks.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5F5F5"/>
                </a:solidFill>
                <a:latin typeface="Inter"/>
              </a:defRPr>
            </a:pPr>
            <a:r>
              <a:t>Hyper-personalized health &amp; route safety recommendations.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696</Words>
  <Application>Microsoft Macintosh PowerPoint</Application>
  <PresentationFormat>Widescreen</PresentationFormat>
  <Paragraphs>134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Saksham Pratap Singh</cp:lastModifiedBy>
  <cp:revision>1</cp:revision>
  <dcterms:created xsi:type="dcterms:W3CDTF">2013-01-27T09:14:16Z</dcterms:created>
  <dcterms:modified xsi:type="dcterms:W3CDTF">2026-04-08T16:19:08Z</dcterms:modified>
  <cp:category/>
</cp:coreProperties>
</file>